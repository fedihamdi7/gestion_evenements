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596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2196F3">
              <a:alpha val="25000"/>
            </a:srgbClr>
          </a:solidFill>
          <a:ln w="12700">
            <a:solidFill>
              <a:srgbClr val="2196F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2560320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MINI PROJET — SOA / MICROSERVICES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Gestion Intelligente</a:t>
            </a:r>
            <a:endParaRPr lang="en-US" sz="4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d'Événements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A0BFD8"/>
                </a:solidFill>
              </a:rPr>
              <a:t>Plateforme distribuée avec Spring Boot, NestJS,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A0BFD8"/>
                </a:solidFill>
              </a:rPr>
              <a:t>API Gateway, Keycloak, Docker &amp; Eureka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4343400"/>
            <a:ext cx="150876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43434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Fedi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4343400"/>
            <a:ext cx="150876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0" y="43434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Nour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77640" y="4343400"/>
            <a:ext cx="150876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77640" y="43434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Abderrahim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4343400"/>
            <a:ext cx="150876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43434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Safaa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864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</a:rPr>
              <a:t>ESPRIT — 2024/2025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BCD4"/>
                </a:solidFill>
              </a:rPr>
              <a:t>IDÉE DU PROJET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</a:rPr>
              <a:t>Plateforme de Gestion d'Événements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7D8B"/>
                </a:solidFill>
              </a:rPr>
              <a:t>Application web pour organiser, gérer et découvrir des événements locaux — concerts, sports, conférences, ateliers.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084832"/>
            <a:ext cx="2697480" cy="1143000"/>
          </a:xfrm>
          <a:prstGeom prst="rect">
            <a:avLst/>
          </a:prstGeom>
          <a:solidFill>
            <a:srgbClr val="E8F4FD"/>
          </a:solidFill>
          <a:ln w="12700">
            <a:solidFill>
              <a:srgbClr val="CCE4F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2084832"/>
            <a:ext cx="64008" cy="1143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1762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👤  Comptes Utilisateurs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23744"/>
            <a:ext cx="2496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07D8B"/>
                </a:solidFill>
              </a:rPr>
              <a:t>Inscription, connexion, rôles (participant / organisateur) sécurisés avec Keycloak SSO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2084832"/>
            <a:ext cx="2697480" cy="1143000"/>
          </a:xfrm>
          <a:prstGeom prst="rect">
            <a:avLst/>
          </a:prstGeom>
          <a:solidFill>
            <a:srgbClr val="E8F4FD"/>
          </a:solidFill>
          <a:ln w="12700">
            <a:solidFill>
              <a:srgbClr val="CCE4F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2084832"/>
            <a:ext cx="64008" cy="1143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21762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🎟️  Catalogue d'Événements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523744"/>
            <a:ext cx="2496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07D8B"/>
                </a:solidFill>
              </a:rPr>
              <a:t>Créer, parcourir, filtrer et rechercher des événements par catégorie, date ou lieu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2084832"/>
            <a:ext cx="2697480" cy="1143000"/>
          </a:xfrm>
          <a:prstGeom prst="rect">
            <a:avLst/>
          </a:prstGeom>
          <a:solidFill>
            <a:srgbClr val="E8F4FD"/>
          </a:solidFill>
          <a:ln w="12700">
            <a:solidFill>
              <a:srgbClr val="CCE4F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2084832"/>
            <a:ext cx="64008" cy="1143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21762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📋  Inscription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2523744"/>
            <a:ext cx="2496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07D8B"/>
                </a:solidFill>
              </a:rPr>
              <a:t>Réservation de billets, gestion de la capacité, listes d'attente et e-mails de confirmation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2697480" cy="1143000"/>
          </a:xfrm>
          <a:prstGeom prst="rect">
            <a:avLst/>
          </a:prstGeom>
          <a:solidFill>
            <a:srgbClr val="E8F4FD"/>
          </a:solidFill>
          <a:ln w="12700">
            <a:solidFill>
              <a:srgbClr val="CCE4F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64008" cy="1143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474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💬  Avis &amp; Commentaires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822192"/>
            <a:ext cx="2496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07D8B"/>
                </a:solidFill>
              </a:rPr>
              <a:t>Noter et commenter les événements ; les organisateurs peuvent répondre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3383280"/>
            <a:ext cx="2697480" cy="1143000"/>
          </a:xfrm>
          <a:prstGeom prst="rect">
            <a:avLst/>
          </a:prstGeom>
          <a:solidFill>
            <a:srgbClr val="E8F4FD"/>
          </a:solidFill>
          <a:ln w="12700">
            <a:solidFill>
              <a:srgbClr val="CCE4F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54680" y="3383280"/>
            <a:ext cx="64008" cy="1143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0" y="3474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📊  Analytique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822192"/>
            <a:ext cx="2496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07D8B"/>
                </a:solidFill>
              </a:rPr>
              <a:t>Tableaux de bord pour organisateurs : statistiques, revenus, tendances (service NestJS)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BCD4"/>
                </a:solidFill>
              </a:rPr>
              <a:t>VUE D'ENSEMBLE — 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64592" y="749808"/>
            <a:ext cx="8823960" cy="4315968"/>
          </a:xfrm>
          <a:prstGeom prst="rect">
            <a:avLst/>
          </a:prstGeom>
          <a:solidFill>
            <a:srgbClr val="EBF4FF">
              <a:alpha val="70000"/>
            </a:srgbClr>
          </a:solidFill>
          <a:ln w="19050">
            <a:solidFill>
              <a:srgbClr val="2196F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7955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96F3"/>
                </a:solidFill>
              </a:rPr>
              <a:t>🐳  Docker Host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0241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8BAAC8"/>
                </a:solidFill>
              </a:rPr>
              <a:t>Client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691640" y="10241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8BAAC8"/>
                </a:solidFill>
              </a:rPr>
              <a:t>Gateway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383280" y="10241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8BAAC8"/>
                </a:solidFill>
              </a:rPr>
              <a:t>Microservices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903720" y="10241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8BAAC8"/>
                </a:solidFill>
              </a:rPr>
              <a:t>Bases de données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1234440"/>
            <a:ext cx="0" cy="3520440"/>
          </a:xfrm>
          <a:prstGeom prst="line">
            <a:avLst/>
          </a:prstGeom>
          <a:noFill/>
          <a:ln w="12700">
            <a:solidFill>
              <a:srgbClr val="C5D8EF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0" cy="3520440"/>
          </a:xfrm>
          <a:prstGeom prst="line">
            <a:avLst/>
          </a:prstGeom>
          <a:noFill/>
          <a:ln w="12700">
            <a:solidFill>
              <a:srgbClr val="C5D8EF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12280" y="1234440"/>
            <a:ext cx="0" cy="3520440"/>
          </a:xfrm>
          <a:prstGeom prst="line">
            <a:avLst/>
          </a:prstGeom>
          <a:noFill/>
          <a:ln w="12700">
            <a:solidFill>
              <a:srgbClr val="C5D8EF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" y="2331720"/>
            <a:ext cx="1353312" cy="777240"/>
          </a:xfrm>
          <a:prstGeom prst="rect">
            <a:avLst/>
          </a:prstGeom>
          <a:solidFill>
            <a:srgbClr val="1E3A5F"/>
          </a:solidFill>
          <a:ln w="19050">
            <a:solidFill>
              <a:srgbClr val="219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1168" y="233172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Frontend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Angular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554480" y="2715768"/>
            <a:ext cx="182880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19072" y="2148840"/>
            <a:ext cx="1444752" cy="1143000"/>
          </a:xfrm>
          <a:prstGeom prst="rect">
            <a:avLst/>
          </a:prstGeom>
          <a:solidFill>
            <a:srgbClr val="2196F3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19072" y="2148840"/>
            <a:ext cx="1444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API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Gateway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19072" y="3154680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3D9FF"/>
                </a:solidFill>
              </a:rPr>
              <a:t>Spring Cloud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719072" y="3703320"/>
            <a:ext cx="1444752" cy="658368"/>
          </a:xfrm>
          <a:prstGeom prst="rect">
            <a:avLst/>
          </a:prstGeom>
          <a:solidFill>
            <a:srgbClr val="263238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19072" y="3703320"/>
            <a:ext cx="14447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🔑  Keycloak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19072" y="4078224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0A4AE"/>
                </a:solidFill>
              </a:rPr>
              <a:t>OAuth2 / SSO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441448" y="3291840"/>
            <a:ext cx="0" cy="402336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63824" y="1490472"/>
            <a:ext cx="192024" cy="0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64992" y="1207008"/>
            <a:ext cx="333756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742432" y="1243584"/>
            <a:ext cx="914400" cy="49377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0" y="120700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Service Utilisateurs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60720" y="1243584"/>
            <a:ext cx="8961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BDEFB"/>
                </a:solidFill>
              </a:rPr>
              <a:t>Spring Boot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02552" y="1490472"/>
            <a:ext cx="182880" cy="0"/>
          </a:xfrm>
          <a:prstGeom prst="line">
            <a:avLst/>
          </a:prstGeom>
          <a:noFill/>
          <a:ln w="1524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50024" y="1335024"/>
            <a:ext cx="1453896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50024" y="1261872"/>
            <a:ext cx="1453896" cy="146304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050024" y="1572768"/>
            <a:ext cx="1453896" cy="146304"/>
          </a:xfrm>
          <a:prstGeom prst="ellipse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85432" y="133502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MySQL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63824" y="2093976"/>
            <a:ext cx="192024" cy="0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64992" y="1810512"/>
            <a:ext cx="3337560" cy="56692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742432" y="1847088"/>
            <a:ext cx="914400" cy="49377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74720" y="181051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Service Événements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60720" y="1847088"/>
            <a:ext cx="8961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3E5FC"/>
                </a:solidFill>
              </a:rPr>
              <a:t>Spring Boot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702552" y="2093976"/>
            <a:ext cx="182880" cy="0"/>
          </a:xfrm>
          <a:prstGeom prst="line">
            <a:avLst/>
          </a:prstGeom>
          <a:noFill/>
          <a:ln w="1524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050024" y="1938528"/>
            <a:ext cx="1453896" cy="310896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050024" y="1865376"/>
            <a:ext cx="1453896" cy="146304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050024" y="2176272"/>
            <a:ext cx="1453896" cy="146304"/>
          </a:xfrm>
          <a:prstGeom prst="ellipse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85432" y="193852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MongoDB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163824" y="2697480"/>
            <a:ext cx="192024" cy="0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364992" y="2414016"/>
            <a:ext cx="3337560" cy="56692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742432" y="2450592"/>
            <a:ext cx="914400" cy="49377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74720" y="241401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Service Inscription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760720" y="2450592"/>
            <a:ext cx="8961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2DFDB"/>
                </a:solidFill>
              </a:rPr>
              <a:t>Spring Boot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702552" y="2697480"/>
            <a:ext cx="182880" cy="0"/>
          </a:xfrm>
          <a:prstGeom prst="line">
            <a:avLst/>
          </a:prstGeom>
          <a:noFill/>
          <a:ln w="1524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050024" y="2542032"/>
            <a:ext cx="1453896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050024" y="2468880"/>
            <a:ext cx="1453896" cy="146304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050024" y="2779776"/>
            <a:ext cx="1453896" cy="146304"/>
          </a:xfrm>
          <a:prstGeom prst="ellipse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885432" y="2542032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163824" y="3300984"/>
            <a:ext cx="192024" cy="0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364992" y="3017520"/>
            <a:ext cx="3337560" cy="566928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742432" y="3054096"/>
            <a:ext cx="914400" cy="49377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474720" y="301752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Service Avis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760720" y="3054096"/>
            <a:ext cx="8961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EDC8"/>
                </a:solidFill>
              </a:rPr>
              <a:t>Spring Boot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702552" y="3300984"/>
            <a:ext cx="182880" cy="0"/>
          </a:xfrm>
          <a:prstGeom prst="line">
            <a:avLst/>
          </a:prstGeom>
          <a:noFill/>
          <a:ln w="1524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050024" y="3145536"/>
            <a:ext cx="1453896" cy="310896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050024" y="3072384"/>
            <a:ext cx="1453896" cy="146304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050024" y="3383280"/>
            <a:ext cx="1453896" cy="146304"/>
          </a:xfrm>
          <a:prstGeom prst="ellipse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885432" y="314553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MySQL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163824" y="3904488"/>
            <a:ext cx="192024" cy="0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364992" y="3621024"/>
            <a:ext cx="3337560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742432" y="3657600"/>
            <a:ext cx="914400" cy="49377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474720" y="362102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Service Messaging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760720" y="3657600"/>
            <a:ext cx="8961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E0B2"/>
                </a:solidFill>
              </a:rPr>
              <a:t>RabbitMQ ★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702552" y="3904488"/>
            <a:ext cx="182880" cy="0"/>
          </a:xfrm>
          <a:prstGeom prst="line">
            <a:avLst/>
          </a:prstGeom>
          <a:noFill/>
          <a:ln w="1524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050024" y="3749040"/>
            <a:ext cx="1453896" cy="31089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050024" y="3675888"/>
            <a:ext cx="1453896" cy="146304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050024" y="3986784"/>
            <a:ext cx="1453896" cy="146304"/>
          </a:xfrm>
          <a:prstGeom prst="ellipse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885432" y="374904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MongoDB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364992" y="4279392"/>
            <a:ext cx="1572768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364992" y="427939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⚙️  Config Server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029200" y="4279392"/>
            <a:ext cx="1828800" cy="43891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029200" y="42793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🔍  Eureka Registry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291840" y="4233672"/>
            <a:ext cx="3657600" cy="530352"/>
          </a:xfrm>
          <a:prstGeom prst="rect">
            <a:avLst/>
          </a:prstGeom>
          <a:solidFill>
            <a:srgbClr val="F5FFF5">
              <a:alpha val="40000"/>
            </a:srgbClr>
          </a:solidFill>
          <a:ln w="12700">
            <a:solidFill>
              <a:srgbClr val="00897B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291840" y="403250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97B"/>
                </a:solidFill>
              </a:rPr>
              <a:t>Infrastructure partagée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BCD4"/>
                </a:solidFill>
              </a:rPr>
              <a:t>PILE TECHNOLOGIQUE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</a:rPr>
              <a:t>Chaque couche, choisie avec intention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697480" cy="1536192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697480" cy="38404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Frontend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246888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Angular 17+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Tailwind CSS / Bootstrap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HttpClient &amp; RxJS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Gestion des tokens JWT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697480" cy="153619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4680" y="1417320"/>
            <a:ext cx="269748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Microservices (×4)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91840" y="1847088"/>
            <a:ext cx="246888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Spring Boot 3.x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Spring Security + JWT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Spring Data JPA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MySQL par service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97480" cy="1536192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97480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Service Analytique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72200" y="1847088"/>
            <a:ext cx="246888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NestJS (Node.js)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TypeORM + MySQL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API REST + Swagger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Module technologie avancée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136392"/>
            <a:ext cx="2697480" cy="1536192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136392"/>
            <a:ext cx="269748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136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Infrastructure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3566160"/>
            <a:ext cx="246888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API Gateway (Spring Cloud)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Eureka Service Discovery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Config Server (centralisé)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Keycloak (SSO / OAuth2)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3136392"/>
            <a:ext cx="2697480" cy="1536192"/>
          </a:xfrm>
          <a:prstGeom prst="rect">
            <a:avLst/>
          </a:prstGeom>
          <a:solidFill>
            <a:srgbClr val="E0F7FA"/>
          </a:solidFill>
          <a:ln w="1905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54680" y="3136392"/>
            <a:ext cx="269748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46120" y="3136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DevOps &amp; Déploiement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91840" y="3566160"/>
            <a:ext cx="246888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Docker + Docker Compose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Chaque service conteneurisé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Variables d'environnement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Health checks &amp; volumes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BCD4"/>
                </a:solidFill>
              </a:rPr>
              <a:t>LES 5 MICROSERVICES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640080" cy="71323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Service Utilisateurs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271016"/>
            <a:ext cx="1097280" cy="219456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2710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Spring Boot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54680" y="94183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07D8B"/>
                </a:solidFill>
              </a:rPr>
              <a:t>Inscription/connexion, gestion du profil, accès basé sur les rôles (ADMIN, ORGANISATEUR, PARTICIPANT). Émission des JWT via Keycloak.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673352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" y="1673352"/>
            <a:ext cx="640080" cy="71323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" y="167335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1719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Service Événements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2075688"/>
            <a:ext cx="1097280" cy="219456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20756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Spring Boot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154680" y="174650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07D8B"/>
                </a:solidFill>
              </a:rPr>
              <a:t>CRUD des événements, catégorisation, recherche &amp; filtrage par date, lieu ou type. Expose les données aux autres services.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478024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600" y="2478024"/>
            <a:ext cx="640080" cy="71323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8600" y="247802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25237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Service Inscription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" y="2880360"/>
            <a:ext cx="1097280" cy="219456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28803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Spring Boot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154680" y="2551176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07D8B"/>
                </a:solidFill>
              </a:rPr>
              <a:t>Réservation de billets, contrôle de capacité, gestion des listes d'attente, envoi de notifications de confirmation.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282696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3282696"/>
            <a:ext cx="640080" cy="713232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28600" y="328269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3284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Service Avis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05840" y="3685032"/>
            <a:ext cx="1097280" cy="219456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05840" y="36850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Spring Boot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154680" y="3355848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07D8B"/>
                </a:solidFill>
              </a:rPr>
              <a:t>Notes et commentaires post-événement. Modération du contenu. Calcul de la note moyenne par événement.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4087368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28600" y="4087368"/>
            <a:ext cx="640080" cy="71323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8600" y="408736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5840" y="4133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Service Analytique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05840" y="4489704"/>
            <a:ext cx="1097280" cy="219456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05840" y="44897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NestJS ★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154680" y="416052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07D8B"/>
                </a:solidFill>
              </a:rPr>
              <a:t>Module avancé : tendances de fréquentation, graphiques de revenus, tableaux de bord pour organisateurs. Construit avec NestJS.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BCD4"/>
                </a:solidFill>
              </a:rPr>
              <a:t>INFRASTRUCTURE &amp; SERVICES TRANSVERSAUX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828800"/>
          </a:xfrm>
          <a:prstGeom prst="rect">
            <a:avLst/>
          </a:prstGeom>
          <a:solidFill>
            <a:srgbClr val="ECEFF1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🔀  API Gateway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Point d'entrée unique pour tous les clients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Routage et répartition de charge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Rate limiting &amp; circuit breaker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Validation du JWT avant transmission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36392" y="960120"/>
            <a:ext cx="2743200" cy="1828800"/>
          </a:xfrm>
          <a:prstGeom prst="rect">
            <a:avLst/>
          </a:prstGeom>
          <a:solidFill>
            <a:srgbClr val="ECEFF1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36392" y="960120"/>
            <a:ext cx="2743200" cy="45720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27832" y="960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 Keycloak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73552" y="146304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Fournisseur OAuth2 / OpenID Connect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Identité centralisée des utilisateurs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Support de la connexion sociale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Gestion des rôles et permissions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44184" y="960120"/>
            <a:ext cx="2743200" cy="1828800"/>
          </a:xfrm>
          <a:prstGeom prst="rect">
            <a:avLst/>
          </a:prstGeom>
          <a:solidFill>
            <a:srgbClr val="ECEFF1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44184" y="960120"/>
            <a:ext cx="27432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35624" y="960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Eureka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1344" y="146304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Registre &amp; découverte de services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Chaque service s'auto-enregistre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La Gateway résout par nom de service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Heartbeats de vérification de santé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990088"/>
            <a:ext cx="2743200" cy="1828800"/>
          </a:xfrm>
          <a:prstGeom prst="rect">
            <a:avLst/>
          </a:prstGeom>
          <a:solidFill>
            <a:srgbClr val="ECEFF1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2990088"/>
            <a:ext cx="27432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9900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Config Server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493008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Configuration centralisée (Git)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Profils d'environnement (dev/prod)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Aucune duplication de config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Support du rechargement dynamique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36392" y="2990088"/>
            <a:ext cx="2743200" cy="1828800"/>
          </a:xfrm>
          <a:prstGeom prst="rect">
            <a:avLst/>
          </a:prstGeom>
          <a:solidFill>
            <a:srgbClr val="ECEFF1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36392" y="2990088"/>
            <a:ext cx="2743200" cy="45720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27832" y="29900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🐳  Docker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73552" y="3493008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Chaque service dans son propre conteneur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Orchestration via Docker Compose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Réseau partagé entre les services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</a:rPr>
              <a:t>Volumes pour la persistance des données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BCD4"/>
                </a:solidFill>
              </a:rPr>
              <a:t>DÉTAIL TECHNOLOGIQUE — INFRASTRUCTURE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31596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256032" cy="19933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777240"/>
            <a:ext cx="4059936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804672"/>
            <a:ext cx="38770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Gateway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033272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E0FF"/>
                </a:solidFill>
              </a:rPr>
              <a:t>Spring Cloud Gateway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3877056" cy="201168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1307592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565C0"/>
                </a:solidFill>
              </a:rPr>
              <a:t>→  Spring WebFlux (non-bloquant)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12064" y="1609344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15727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Routing YAML : /api/users/** → user-service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2064" y="1845259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1808683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Filtre JWT exécuté avant chaque requête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2064" y="2081174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04459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Résolution dynamique via Eureka (pas d'IP fixe)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2064" y="231709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228051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Rate limiting &amp; circuit breaker intégrés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2064" y="2553005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2516429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Alternative : Netflix Zuul (déprécié, éviter)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81728" y="777240"/>
            <a:ext cx="431596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81728" y="777240"/>
            <a:ext cx="256032" cy="19933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37760" y="777240"/>
            <a:ext cx="4059936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804672"/>
            <a:ext cx="38770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Eureka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1033272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E0FF"/>
                </a:solidFill>
              </a:rPr>
              <a:t>Spring Cloud Netflix Eureka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01768" y="1307592"/>
            <a:ext cx="3877056" cy="201168"/>
          </a:xfrm>
          <a:prstGeom prst="rect">
            <a:avLst/>
          </a:prstGeom>
          <a:solidFill>
            <a:srgbClr val="E65100">
              <a:alpha val="12000"/>
            </a:srgbClr>
          </a:solidFill>
          <a:ln w="12700">
            <a:solidFill>
              <a:srgbClr val="E651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1307592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E65100"/>
                </a:solidFill>
              </a:rPr>
              <a:t>→  Serveur standalone + Client dans chaque service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010912" y="1609344"/>
            <a:ext cx="91440" cy="914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57216" y="15727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Eureka Server : 1 app Spring Boot (~20 lignes de config)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10912" y="1845259"/>
            <a:ext cx="91440" cy="914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57216" y="1808683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@EnableEurekaClient sur chaque microservice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10912" y="2081174"/>
            <a:ext cx="91440" cy="914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57216" y="204459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Auto-enregistrement au démarrage par spring.application.name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10912" y="2317090"/>
            <a:ext cx="91440" cy="914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57216" y="228051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Health check heartbeat toutes les 30 secondes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10912" y="2553005"/>
            <a:ext cx="91440" cy="914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57216" y="2516429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La Gateway résout les noms sans IP codées en dur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2898648"/>
            <a:ext cx="431596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82880" y="2898648"/>
            <a:ext cx="256032" cy="19933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38912" y="2898648"/>
            <a:ext cx="4059936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0352" y="2926080"/>
            <a:ext cx="38770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Config Server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0352" y="3154680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E0FF"/>
                </a:solidFill>
              </a:rPr>
              <a:t>Spring Cloud Config Server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02920" y="3429000"/>
            <a:ext cx="3877056" cy="201168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0352" y="3429000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2E7D32"/>
                </a:solidFill>
              </a:rPr>
              <a:t>→  1 app standalone → lit un dépôt Git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512064" y="3730752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8368" y="36941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Un dépôt Git contient : user-service.yml, event-service.yml…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12064" y="3966667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58368" y="3930091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Chaque service fetch sa config au démarrage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2064" y="4202582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8368" y="416600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Profils d'environnement : dev / prod séparés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12064" y="443849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58368" y="440192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Rechargement sans redéploiement via /actuator/refresh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12064" y="4674413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8368" y="4637837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Plus de duplication de configuration entre services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81728" y="2898648"/>
            <a:ext cx="431596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81728" y="2898648"/>
            <a:ext cx="256032" cy="199339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937760" y="2898648"/>
            <a:ext cx="4059936" cy="47548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029200" y="2926080"/>
            <a:ext cx="38770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Keycloak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029200" y="3154680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E0FF"/>
                </a:solidFill>
              </a:rPr>
              <a:t>Keycloak 23+  •  keycloak-angular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001768" y="3429000"/>
            <a:ext cx="3877056" cy="201168"/>
          </a:xfrm>
          <a:prstGeom prst="rect">
            <a:avLst/>
          </a:prstGeom>
          <a:solidFill>
            <a:srgbClr val="4A148C">
              <a:alpha val="12000"/>
            </a:srgbClr>
          </a:solidFill>
          <a:ln w="12700">
            <a:solidFill>
              <a:srgbClr val="4A14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29200" y="3429000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4A148C"/>
                </a:solidFill>
              </a:rPr>
              <a:t>→  Conteneur Docker indépendant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5010912" y="3730752"/>
            <a:ext cx="91440" cy="9144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157216" y="36941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Realm : domaine de sécurité isolé (ex: event-app-realm)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010912" y="3966667"/>
            <a:ext cx="91440" cy="9144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157216" y="3930091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Clients : frontend Angular + API Gateway enregistrés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010912" y="4202582"/>
            <a:ext cx="91440" cy="9144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157216" y="416600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Rôles JWT : ADMIN, ORGANISATEUR, PARTICIPANT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010912" y="4438498"/>
            <a:ext cx="91440" cy="9144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157216" y="440192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Angular → keycloak-angular : intercepteur HTTP automatique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010912" y="4674413"/>
            <a:ext cx="91440" cy="9144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157216" y="4637837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</a:rPr>
              <a:t>Flux : Angular → Keycloak → JWT → Gateway → Services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74320" y="4809744"/>
            <a:ext cx="8595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C8F0"/>
                </a:solidFill>
              </a:rPr>
              <a:t>💡  Toutes ces dépendances sont des starters Spring Boot — elles communiquent nativement dans le réseau Docker sans configuration complexe.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0BCD4"/>
                </a:solidFill>
              </a:rPr>
              <a:t>RÉPARTITION DES TÂCHES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Qui construit quoi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011680" cy="2999232"/>
          </a:xfrm>
          <a:prstGeom prst="rect">
            <a:avLst/>
          </a:prstGeom>
          <a:solidFill>
            <a:srgbClr val="1A2A40"/>
          </a:solidFill>
          <a:ln w="1905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011680" cy="6858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23444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608" y="1837944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Fedi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185416"/>
            <a:ext cx="1645920" cy="219456"/>
          </a:xfrm>
          <a:prstGeom prst="rect">
            <a:avLst/>
          </a:prstGeom>
          <a:solidFill>
            <a:srgbClr val="1976D2">
              <a:alpha val="50000"/>
            </a:srgbClr>
          </a:solidFill>
          <a:ln w="12700">
            <a:solidFill>
              <a:srgbClr val="1976D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1854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Service Utilisateurs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93192" y="2496312"/>
            <a:ext cx="109728" cy="109728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7784" y="2459736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Service Utilisateurs (Spring Boot)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93192" y="2916936"/>
            <a:ext cx="109728" cy="109728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7784" y="2880360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API Gateway — routage &amp; JWT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93192" y="3337560"/>
            <a:ext cx="109728" cy="109728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7784" y="3300984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Intégration Keycloak (OAuth2 / SSO)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93192" y="3758184"/>
            <a:ext cx="109728" cy="109728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7784" y="3721608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Gestion des rôles &amp; permissions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395728" y="1143000"/>
            <a:ext cx="2011680" cy="2999232"/>
          </a:xfrm>
          <a:prstGeom prst="rect">
            <a:avLst/>
          </a:prstGeom>
          <a:solidFill>
            <a:srgbClr val="1A2A40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395728" y="1143000"/>
            <a:ext cx="201168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27248" y="123444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27248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59736" y="1837944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Nour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78608" y="2185416"/>
            <a:ext cx="1645920" cy="219456"/>
          </a:xfrm>
          <a:prstGeom prst="rect">
            <a:avLst/>
          </a:prstGeom>
          <a:solidFill>
            <a:srgbClr val="00897B">
              <a:alpha val="50000"/>
            </a:srgbClr>
          </a:solidFill>
          <a:ln w="12700">
            <a:solidFill>
              <a:srgbClr val="00897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78608" y="21854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Service Événements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60320" y="2496312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24912" y="2459736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Service Événements (Spring Boot)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560320" y="2916936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24912" y="2880360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Eureka — registre de services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560320" y="3337560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24912" y="3300984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Config Server (Git centralisé)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560320" y="3758184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24912" y="3721608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Documentation Swagger / API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562856" y="1143000"/>
            <a:ext cx="2011680" cy="2999232"/>
          </a:xfrm>
          <a:prstGeom prst="rect">
            <a:avLst/>
          </a:prstGeom>
          <a:solidFill>
            <a:srgbClr val="1A2A40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62856" y="1143000"/>
            <a:ext cx="201168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294376" y="123444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94376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26864" y="1837944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Abderrahim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45736" y="2185416"/>
            <a:ext cx="1645920" cy="219456"/>
          </a:xfrm>
          <a:prstGeom prst="rect">
            <a:avLst/>
          </a:prstGeom>
          <a:solidFill>
            <a:srgbClr val="E65100">
              <a:alpha val="50000"/>
            </a:srgbClr>
          </a:solidFill>
          <a:ln w="12700">
            <a:solidFill>
              <a:srgbClr val="E6510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45736" y="21854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Service Inscription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27448" y="2496312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92040" y="2459736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Service Inscription (Spring Boot)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4727448" y="2916936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92040" y="2880360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Docker Compose — orchestration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4727448" y="3337560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92040" y="3300984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Réseau &amp; volumes des conteneurs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4727448" y="3758184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92040" y="3721608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Tests end-to-end &amp; intégration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6729984" y="1143000"/>
            <a:ext cx="2011680" cy="2999232"/>
          </a:xfrm>
          <a:prstGeom prst="rect">
            <a:avLst/>
          </a:prstGeom>
          <a:solidFill>
            <a:srgbClr val="1A2A40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729984" y="1143000"/>
            <a:ext cx="2011680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461504" y="123444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461504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93992" y="1837944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Safaa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912864" y="2185416"/>
            <a:ext cx="1645920" cy="219456"/>
          </a:xfrm>
          <a:prstGeom prst="rect">
            <a:avLst/>
          </a:prstGeom>
          <a:solidFill>
            <a:srgbClr val="6A1B9A">
              <a:alpha val="50000"/>
            </a:srgbClr>
          </a:solidFill>
          <a:ln w="12700">
            <a:solidFill>
              <a:srgbClr val="6A1B9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12864" y="21854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Service Avis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94576" y="2496312"/>
            <a:ext cx="109728" cy="10972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059168" y="2459736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Service Avis (Spring Boot + MySQL)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6894576" y="2916936"/>
            <a:ext cx="109728" cy="10972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059168" y="2880360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Frontend Angular + UI/UX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6894576" y="3337560"/>
            <a:ext cx="109728" cy="10972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059168" y="3300984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Design des composants &amp; routing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6894576" y="3758184"/>
            <a:ext cx="109728" cy="10972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059168" y="3721608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</a:rPr>
              <a:t>Tableaux de bord &amp; visualisations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1234440" y="4142232"/>
            <a:ext cx="0" cy="109728"/>
          </a:xfrm>
          <a:prstGeom prst="line">
            <a:avLst/>
          </a:prstGeom>
          <a:noFill/>
          <a:ln w="12700">
            <a:solidFill>
              <a:srgbClr val="FF6F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401568" y="4142232"/>
            <a:ext cx="0" cy="109728"/>
          </a:xfrm>
          <a:prstGeom prst="line">
            <a:avLst/>
          </a:prstGeom>
          <a:noFill/>
          <a:ln w="12700">
            <a:solidFill>
              <a:srgbClr val="FF6F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568696" y="4142232"/>
            <a:ext cx="0" cy="109728"/>
          </a:xfrm>
          <a:prstGeom prst="line">
            <a:avLst/>
          </a:prstGeom>
          <a:noFill/>
          <a:ln w="12700">
            <a:solidFill>
              <a:srgbClr val="FF6F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735824" y="4142232"/>
            <a:ext cx="0" cy="109728"/>
          </a:xfrm>
          <a:prstGeom prst="line">
            <a:avLst/>
          </a:prstGeom>
          <a:noFill/>
          <a:ln w="12700">
            <a:solidFill>
              <a:srgbClr val="FF6F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92024" y="4215384"/>
            <a:ext cx="8586216" cy="731520"/>
          </a:xfrm>
          <a:prstGeom prst="rect">
            <a:avLst/>
          </a:prstGeom>
          <a:solidFill>
            <a:srgbClr val="FF6F00">
              <a:alpha val="12000"/>
            </a:srgbClr>
          </a:solidFill>
          <a:ln w="12700">
            <a:solidFill>
              <a:srgbClr val="FF6F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28600" y="4251960"/>
            <a:ext cx="8513064" cy="658368"/>
          </a:xfrm>
          <a:prstGeom prst="rect">
            <a:avLst/>
          </a:prstGeom>
          <a:solidFill>
            <a:srgbClr val="7A2E00"/>
          </a:solidFill>
          <a:ln w="254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28600" y="4251960"/>
            <a:ext cx="292608" cy="65836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46888" y="4251960"/>
            <a:ext cx="292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★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612648" y="428853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Service </a:t>
            </a:r>
            <a:r>
              <a:rPr lang="en-US" sz="1400" b="1" dirty="0" err="1">
                <a:solidFill>
                  <a:srgbClr val="FFFFFF"/>
                </a:solidFill>
              </a:rPr>
              <a:t>Messagerie</a:t>
            </a:r>
            <a:r>
              <a:rPr lang="en-US" sz="1400" b="1" dirty="0">
                <a:solidFill>
                  <a:srgbClr val="FFFFFF"/>
                </a:solidFill>
              </a:rPr>
              <a:t>  —  NestJS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612648" y="4599432"/>
            <a:ext cx="8037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BB80"/>
                </a:solidFill>
              </a:rPr>
              <a:t>Partagé par toute l'équipe  •  Tableaux de bord  •  Statistiques de fréquentation  •  Graphiques de revenus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415784" y="4398264"/>
            <a:ext cx="1234440" cy="34747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415784" y="439826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👥  Toute l'équipe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BCD4"/>
                </a:solidFill>
              </a:rPr>
              <a:t>PARCOURS UTILISATEUR — DE BOUT EN BOUT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Comment une expérience traverse le système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1417320"/>
            <a:ext cx="640080" cy="64008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560320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1396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976D2"/>
                </a:solidFill>
              </a:rPr>
              <a:t>Connexion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</a:rPr>
              <a:t>L'utilisateur s'authentifie via Keycloak (OAuth2). Token JWT émis.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80360" y="2423160"/>
            <a:ext cx="228600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23360" y="1417320"/>
            <a:ext cx="640080" cy="64008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154680" y="2103120"/>
            <a:ext cx="2560320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21396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8D1"/>
                </a:solidFill>
              </a:rPr>
              <a:t>Parcourir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</a:rPr>
              <a:t>Le frontend appelle l'API Gateway → Service Événements. Filtrage &amp; recherche.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2423160"/>
            <a:ext cx="228600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03720" y="1417320"/>
            <a:ext cx="640080" cy="64008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35040" y="2103120"/>
            <a:ext cx="2560320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21396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38F"/>
                </a:solidFill>
              </a:rPr>
              <a:t>S'inscrire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</a:rPr>
              <a:t>POST vers l'API Gateway → Service Inscription. Capacité vérifiée.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43000" y="306324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4300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2560320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7856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</a:rPr>
              <a:t>Assister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069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</a:rPr>
              <a:t>Billet confirmé. Le service notifie via appel interne.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80360" y="4069080"/>
            <a:ext cx="228600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023360" y="3063240"/>
            <a:ext cx="640080" cy="640080"/>
          </a:xfrm>
          <a:prstGeom prst="ellipse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2336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154680" y="3749040"/>
            <a:ext cx="2560320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46120" y="37856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8B2F"/>
                </a:solidFill>
              </a:rPr>
              <a:t>Laisser un avis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46120" y="4069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</a:rPr>
              <a:t>POST vers le Service Avis. Note &amp; commentaire enregistrés en MySQL.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60720" y="4069080"/>
            <a:ext cx="228600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903720" y="3063240"/>
            <a:ext cx="640080" cy="64008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037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035040" y="3749040"/>
            <a:ext cx="2560320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26480" y="37856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F00"/>
                </a:solidFill>
              </a:rPr>
              <a:t>Analytique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26480" y="4069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</a:rPr>
              <a:t>L'organisateur consulte le tableau de bord NestJS avec les stats en direct.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1E3A5F">
              <a:alpha val="55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196F3">
              <a:alpha val="30000"/>
            </a:srgbClr>
          </a:solidFill>
          <a:ln w="12700">
            <a:solidFill>
              <a:srgbClr val="2196F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Ce que ce Projet Apporte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Vraie architecture microservices — pas un monolithe déguisé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411480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1430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32120" y="118872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Auth enterprise avec Keycloak (SSO, OAuth2, accès par rôle)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11480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19456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Découverte de services &amp; config centralisée — patterns prêts pour la prod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148840"/>
            <a:ext cx="411480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🐳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32120" y="219456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Entièrement conteneurisé avec Docker — déployable partout, de façon cohérente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11480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20040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Deux technologies backend : Spring Boot (Java) + NestJS (Node.js)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154680"/>
            <a:ext cx="411480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154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320040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Séparation nette des responsabilités — chaque service possède sa propre base de données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4297680"/>
            <a:ext cx="4572000" cy="5943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0" y="42976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Équipe : Fedi · Nour · Abderrahim · Safaa  |  ESPRIT 2024/2025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100" b="1" kern="0" spc="300" dirty="0">
                <a:solidFill>
                  <a:srgbClr val="00BCD4"/>
                </a:solidFill>
              </a:rPr>
              <a:t>BESOINS NON FONCTIONNELS</a:t>
            </a:r>
          </a:p>
        </p:txBody>
      </p:sp>
      <p:sp>
        <p:nvSpPr>
          <p:cNvPr id="4" name="Subtitle"/>
          <p:cNvSpPr/>
          <p:nvPr/>
        </p:nvSpPr>
        <p:spPr>
          <a:xfrm>
            <a:off x="365760" y="6766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8BAAC8"/>
                </a:solidFill>
              </a:rPr>
              <a:t>Contraintes de qualite, performance et securite du systeme</a:t>
            </a:r>
          </a:p>
        </p:txBody>
      </p:sp>
      <p:sp>
        <p:nvSpPr>
          <p:cNvPr id="10" name="Card1BG"/>
          <p:cNvSpPr/>
          <p:nvPr/>
        </p:nvSpPr>
        <p:spPr>
          <a:xfrm>
            <a:off x="182880" y="1060704"/>
            <a:ext cx="2048256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5400000" algn="t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rd1Icon"/>
          <p:cNvSpPr/>
          <p:nvPr/>
        </p:nvSpPr>
        <p:spPr>
          <a:xfrm>
            <a:off x="182880" y="1060704"/>
            <a:ext cx="2048256" cy="31089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1Title"/>
          <p:cNvSpPr/>
          <p:nvPr/>
        </p:nvSpPr>
        <p:spPr>
          <a:xfrm>
            <a:off x="182880" y="1060704"/>
            <a:ext cx="20482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⚡  Performance</a:t>
            </a:r>
          </a:p>
        </p:txBody>
      </p:sp>
      <p:sp>
        <p:nvSpPr>
          <p:cNvPr id="13" name="Card1Text"/>
          <p:cNvSpPr/>
          <p:nvPr/>
        </p:nvSpPr>
        <p:spPr>
          <a:xfrm>
            <a:off x="228600" y="1407960"/>
            <a:ext cx="1956816" cy="713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Char char="•"/>
            </a:pPr>
            <a:r>
              <a:rPr lang="fr-FR" sz="750" dirty="0">
                <a:solidFill>
                  <a:srgbClr val="B3D9FF"/>
                </a:solidFill>
              </a:rPr>
              <a:t>Temps de reponse &lt; 2s (95e percentile)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B3D9FF"/>
                </a:solidFill>
              </a:rPr>
              <a:t>1000 utilisateurs simultanement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B3D9FF"/>
                </a:solidFill>
              </a:rPr>
              <a:t>Scalabilite horizontale via Docker</a:t>
            </a:r>
          </a:p>
        </p:txBody>
      </p:sp>
      <p:sp>
        <p:nvSpPr>
          <p:cNvPr id="20" name="Card2BG"/>
          <p:cNvSpPr/>
          <p:nvPr/>
        </p:nvSpPr>
        <p:spPr>
          <a:xfrm>
            <a:off x="2377728" y="1060704"/>
            <a:ext cx="2048256" cy="10972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5400000" algn="t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Card2IconBG"/>
          <p:cNvSpPr/>
          <p:nvPr/>
        </p:nvSpPr>
        <p:spPr>
          <a:xfrm>
            <a:off x="2377728" y="1060704"/>
            <a:ext cx="2048256" cy="310896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Card2Title"/>
          <p:cNvSpPr/>
          <p:nvPr/>
        </p:nvSpPr>
        <p:spPr>
          <a:xfrm>
            <a:off x="2377728" y="1060704"/>
            <a:ext cx="20482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📊  Disponibilite</a:t>
            </a:r>
          </a:p>
        </p:txBody>
      </p:sp>
      <p:sp>
        <p:nvSpPr>
          <p:cNvPr id="23" name="Card2Text"/>
          <p:cNvSpPr/>
          <p:nvPr/>
        </p:nvSpPr>
        <p:spPr>
          <a:xfrm>
            <a:off x="2423448" y="1407960"/>
            <a:ext cx="1956816" cy="713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Char char="•"/>
            </a:pPr>
            <a:r>
              <a:rPr lang="fr-FR" sz="750" dirty="0">
                <a:solidFill>
                  <a:srgbClr val="B2DFDB"/>
                </a:solidFill>
              </a:rPr>
              <a:t>Disponibilite cible 99.9% (SLA)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B2DFDB"/>
                </a:solidFill>
              </a:rPr>
              <a:t>Circuit breaker &amp; health checks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B2DFDB"/>
                </a:solidFill>
              </a:rPr>
              <a:t>Reprise apres pannes automatique</a:t>
            </a:r>
          </a:p>
        </p:txBody>
      </p:sp>
      <p:sp>
        <p:nvSpPr>
          <p:cNvPr id="30" name="Card3BG"/>
          <p:cNvSpPr/>
          <p:nvPr/>
        </p:nvSpPr>
        <p:spPr>
          <a:xfrm>
            <a:off x="4572576" y="1060704"/>
            <a:ext cx="2048256" cy="1097280"/>
          </a:xfrm>
          <a:prstGeom prst="rect">
            <a:avLst/>
          </a:prstGeom>
          <a:solidFill>
            <a:srgbClr val="6A1B9A"/>
          </a:solidFill>
          <a:ln w="12700">
            <a:solidFill>
              <a:srgbClr val="AB47BC"/>
            </a:solidFill>
            <a:prstDash val="solid"/>
          </a:ln>
          <a:effectLst>
            <a:outerShdw blurRad="101600" dist="38100" dir="5400000" algn="t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Card3IconBG"/>
          <p:cNvSpPr/>
          <p:nvPr/>
        </p:nvSpPr>
        <p:spPr>
          <a:xfrm>
            <a:off x="4572576" y="1060704"/>
            <a:ext cx="2048256" cy="31089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3Title"/>
          <p:cNvSpPr/>
          <p:nvPr/>
        </p:nvSpPr>
        <p:spPr>
          <a:xfrm>
            <a:off x="4572576" y="1060704"/>
            <a:ext cx="20482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🔒  Securite</a:t>
            </a:r>
          </a:p>
        </p:txBody>
      </p:sp>
      <p:sp>
        <p:nvSpPr>
          <p:cNvPr id="33" name="Card3Text"/>
          <p:cNvSpPr/>
          <p:nvPr/>
        </p:nvSpPr>
        <p:spPr>
          <a:xfrm>
            <a:off x="4618296" y="1407960"/>
            <a:ext cx="1956816" cy="713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Char char="•"/>
            </a:pPr>
            <a:r>
              <a:rPr lang="fr-FR" sz="750" dirty="0">
                <a:solidFill>
                  <a:srgbClr val="E1BEE7"/>
                </a:solidFill>
              </a:rPr>
              <a:t>Auth OAuth2/JWT via Keycloak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E1BEE7"/>
                </a:solidFill>
              </a:rPr>
              <a:t>HTTPS + chiffrement des donnees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E1BEE7"/>
                </a:solidFill>
              </a:rPr>
              <a:t>RBAC : ADMIN / ORGA / PARTICIPANT</a:t>
            </a:r>
          </a:p>
        </p:txBody>
      </p:sp>
      <p:sp>
        <p:nvSpPr>
          <p:cNvPr id="40" name="Card4BG"/>
          <p:cNvSpPr/>
          <p:nvPr/>
        </p:nvSpPr>
        <p:spPr>
          <a:xfrm>
            <a:off x="6767424" y="1060704"/>
            <a:ext cx="2194560" cy="1097280"/>
          </a:xfrm>
          <a:prstGeom prst="rect">
            <a:avLst/>
          </a:prstGeom>
          <a:solidFill>
            <a:srgbClr val="B71C1C"/>
          </a:solidFill>
          <a:ln w="12700">
            <a:solidFill>
              <a:srgbClr val="EF5350"/>
            </a:solidFill>
            <a:prstDash val="solid"/>
          </a:ln>
          <a:effectLst>
            <a:outerShdw blurRad="101600" dist="38100" dir="5400000" algn="t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Card4IconBG"/>
          <p:cNvSpPr/>
          <p:nvPr/>
        </p:nvSpPr>
        <p:spPr>
          <a:xfrm>
            <a:off x="6767424" y="1060704"/>
            <a:ext cx="2194560" cy="310896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Card4Title"/>
          <p:cNvSpPr/>
          <p:nvPr/>
        </p:nvSpPr>
        <p:spPr>
          <a:xfrm>
            <a:off x="6767424" y="10607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🛠  Maintenabilite</a:t>
            </a:r>
          </a:p>
        </p:txBody>
      </p:sp>
      <p:sp>
        <p:nvSpPr>
          <p:cNvPr id="43" name="Card4Text"/>
          <p:cNvSpPr/>
          <p:nvPr/>
        </p:nvSpPr>
        <p:spPr>
          <a:xfrm>
            <a:off x="6813144" y="1407960"/>
            <a:ext cx="2102832" cy="713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Char char="•"/>
            </a:pPr>
            <a:r>
              <a:rPr lang="fr-FR" sz="750" dirty="0">
                <a:solidFill>
                  <a:srgbClr val="FFCDD2"/>
                </a:solidFill>
              </a:rPr>
              <a:t>API documentee avec Swagger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FFCDD2"/>
                </a:solidFill>
              </a:rPr>
              <a:t>Config centralisee (Config Server)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FFCDD2"/>
                </a:solidFill>
              </a:rPr>
              <a:t>Logs centralises par service</a:t>
            </a:r>
          </a:p>
        </p:txBody>
      </p:sp>
      <p:sp>
        <p:nvSpPr>
          <p:cNvPr id="50" name="Card5BG"/>
          <p:cNvSpPr/>
          <p:nvPr/>
        </p:nvSpPr>
        <p:spPr>
          <a:xfrm>
            <a:off x="182880" y="2304288"/>
            <a:ext cx="2901312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FF9800"/>
            </a:solidFill>
            <a:prstDash val="solid"/>
          </a:ln>
          <a:effectLst>
            <a:outerShdw blurRad="101600" dist="38100" dir="5400000" algn="t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Card5IconBG"/>
          <p:cNvSpPr/>
          <p:nvPr/>
        </p:nvSpPr>
        <p:spPr>
          <a:xfrm>
            <a:off x="182880" y="2304288"/>
            <a:ext cx="2901312" cy="310896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Card5Title"/>
          <p:cNvSpPr/>
          <p:nvPr/>
        </p:nvSpPr>
        <p:spPr>
          <a:xfrm>
            <a:off x="182880" y="2304288"/>
            <a:ext cx="2901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📦  Scalabilite &amp; Isolation</a:t>
            </a:r>
          </a:p>
        </p:txBody>
      </p:sp>
      <p:sp>
        <p:nvSpPr>
          <p:cNvPr id="53" name="Card5Text"/>
          <p:cNvSpPr/>
          <p:nvPr/>
        </p:nvSpPr>
        <p:spPr>
          <a:xfrm>
            <a:off x="228600" y="2651544"/>
            <a:ext cx="2810016" cy="713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Char char="•"/>
            </a:pPr>
            <a:r>
              <a:rPr lang="fr-FR" sz="750" dirty="0">
                <a:solidFill>
                  <a:srgbClr val="FFE0B2"/>
                </a:solidFill>
              </a:rPr>
              <a:t>Chaque service isole dans son conteneur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FFE0B2"/>
                </a:solidFill>
              </a:rPr>
              <a:t>Base de donnees MongoDB par service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FFE0B2"/>
                </a:solidFill>
              </a:rPr>
              <a:t>Scale-out horizontal sans refactoring</a:t>
            </a:r>
          </a:p>
        </p:txBody>
      </p:sp>
      <p:sp>
        <p:nvSpPr>
          <p:cNvPr id="60" name="Card6BG"/>
          <p:cNvSpPr/>
          <p:nvPr/>
        </p:nvSpPr>
        <p:spPr>
          <a:xfrm>
            <a:off x="3238848" y="2304288"/>
            <a:ext cx="2901312" cy="1097280"/>
          </a:xfrm>
          <a:prstGeom prst="rect">
            <a:avLst/>
          </a:prstGeom>
          <a:solidFill>
            <a:srgbClr val="1B5E20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5400000" algn="t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Card6IconBG"/>
          <p:cNvSpPr/>
          <p:nvPr/>
        </p:nvSpPr>
        <p:spPr>
          <a:xfrm>
            <a:off x="3238848" y="2304288"/>
            <a:ext cx="2901312" cy="31089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Card6Title"/>
          <p:cNvSpPr/>
          <p:nvPr/>
        </p:nvSpPr>
        <p:spPr>
          <a:xfrm>
            <a:off x="3238848" y="2304288"/>
            <a:ext cx="2901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🌐  Interoperabilite</a:t>
            </a:r>
          </a:p>
        </p:txBody>
      </p:sp>
      <p:sp>
        <p:nvSpPr>
          <p:cNvPr id="63" name="Card6Text"/>
          <p:cNvSpPr/>
          <p:nvPr/>
        </p:nvSpPr>
        <p:spPr>
          <a:xfrm>
            <a:off x="3284568" y="2651544"/>
            <a:ext cx="2810016" cy="713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Char char="•"/>
            </a:pPr>
            <a:r>
              <a:rPr lang="fr-FR" sz="750" dirty="0">
                <a:solidFill>
                  <a:srgbClr val="C8E6C9"/>
                </a:solidFill>
              </a:rPr>
              <a:t>API REST + JSON standardise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C8E6C9"/>
                </a:solidFill>
              </a:rPr>
              <a:t>Service Messaging (RabbitMQ)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C8E6C9"/>
                </a:solidFill>
              </a:rPr>
              <a:t>Eureka pour la decouverte de services</a:t>
            </a:r>
          </a:p>
        </p:txBody>
      </p:sp>
      <p:sp>
        <p:nvSpPr>
          <p:cNvPr id="70" name="Card7BG"/>
          <p:cNvSpPr/>
          <p:nvPr/>
        </p:nvSpPr>
        <p:spPr>
          <a:xfrm>
            <a:off x="6294816" y="2304288"/>
            <a:ext cx="2667168" cy="1097280"/>
          </a:xfrm>
          <a:prstGeom prst="rect">
            <a:avLst/>
          </a:prstGeom>
          <a:solidFill>
            <a:srgbClr val="263238"/>
          </a:solidFill>
          <a:ln w="12700">
            <a:solidFill>
              <a:srgbClr val="546E7A"/>
            </a:solidFill>
            <a:prstDash val="solid"/>
          </a:ln>
          <a:effectLst>
            <a:outerShdw blurRad="101600" dist="38100" dir="5400000" algn="t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Card7IconBG"/>
          <p:cNvSpPr/>
          <p:nvPr/>
        </p:nvSpPr>
        <p:spPr>
          <a:xfrm>
            <a:off x="6294816" y="2304288"/>
            <a:ext cx="2667168" cy="310896"/>
          </a:xfrm>
          <a:prstGeom prst="rect">
            <a:avLst/>
          </a:prstGeom>
          <a:solidFill>
            <a:srgbClr val="10202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Card7Title"/>
          <p:cNvSpPr/>
          <p:nvPr/>
        </p:nvSpPr>
        <p:spPr>
          <a:xfrm>
            <a:off x="6294816" y="2304288"/>
            <a:ext cx="266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🐳  Portabilite</a:t>
            </a:r>
          </a:p>
        </p:txBody>
      </p:sp>
      <p:sp>
        <p:nvSpPr>
          <p:cNvPr id="73" name="Card7Text"/>
          <p:cNvSpPr/>
          <p:nvPr/>
        </p:nvSpPr>
        <p:spPr>
          <a:xfrm>
            <a:off x="6340536" y="2651544"/>
            <a:ext cx="2575872" cy="713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Char char="•"/>
            </a:pPr>
            <a:r>
              <a:rPr lang="fr-FR" sz="750" dirty="0">
                <a:solidFill>
                  <a:srgbClr val="B0BEC5"/>
                </a:solidFill>
              </a:rPr>
              <a:t>Entierement conteneurise (Docker)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B0BEC5"/>
                </a:solidFill>
              </a:rPr>
              <a:t>Variables d’env. configurables</a:t>
            </a:r>
          </a:p>
          <a:p>
            <a:pPr marL="0" indent="0">
              <a:buChar char="•"/>
            </a:pPr>
            <a:r>
              <a:rPr lang="fr-FR" sz="750" dirty="0">
                <a:solidFill>
                  <a:srgbClr val="B0BEC5"/>
                </a:solidFill>
              </a:rPr>
              <a:t>Deployable sur tout environnement</a:t>
            </a:r>
          </a:p>
        </p:txBody>
      </p:sp>
      <p:sp>
        <p:nvSpPr>
          <p:cNvPr id="90" name="Footer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182880" y="4828032"/>
            <a:ext cx="877824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700" dirty="0">
                <a:solidFill>
                  <a:srgbClr val="546E7A"/>
                </a:solidFill>
              </a:rPr>
              <a:t>Equipe : Fedi · Nour · Abderrahim · Safaa  |  ESPRIT 2024/2025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1280</Words>
  <Application>Microsoft Office PowerPoint</Application>
  <PresentationFormat>On-screen Show (16:9)</PresentationFormat>
  <Paragraphs>271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d'Événements - Architecture Microservices</dc:title>
  <dc:subject>PptxGenJS Presentation</dc:subject>
  <dc:creator>PptxGenJS</dc:creator>
  <cp:lastModifiedBy>Fedi HAMDI</cp:lastModifiedBy>
  <cp:revision>2</cp:revision>
  <dcterms:created xsi:type="dcterms:W3CDTF">2026-05-23T12:58:10Z</dcterms:created>
  <dcterms:modified xsi:type="dcterms:W3CDTF">2026-06-12T13:30:19Z</dcterms:modified>
</cp:coreProperties>
</file>